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95" r:id="rId3"/>
    <p:sldId id="298" r:id="rId4"/>
    <p:sldId id="291" r:id="rId5"/>
    <p:sldId id="299" r:id="rId6"/>
    <p:sldId id="292" r:id="rId7"/>
    <p:sldId id="297" r:id="rId8"/>
    <p:sldId id="293" r:id="rId9"/>
    <p:sldId id="300" r:id="rId10"/>
    <p:sldId id="301" r:id="rId11"/>
    <p:sldId id="302"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A7A5AE0-6B26-4AE6-9746-9A568D6775A6}">
          <p14:sldIdLst>
            <p14:sldId id="256"/>
            <p14:sldId id="295"/>
            <p14:sldId id="298"/>
            <p14:sldId id="291"/>
            <p14:sldId id="299"/>
            <p14:sldId id="292"/>
            <p14:sldId id="297"/>
            <p14:sldId id="293"/>
            <p14:sldId id="300"/>
            <p14:sldId id="301"/>
            <p14:sldId id="302"/>
            <p14:sldId id="288"/>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70" d="100"/>
          <a:sy n="70" d="100"/>
        </p:scale>
        <p:origin x="892" y="4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BFA1D-0C5E-2A1D-D687-FC1E2E3A1D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C12690-DDBD-16C8-97C4-1F4FF96EB6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47657C-D123-A4F9-19F2-C70E7A95F2F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45D1053-29D3-1E40-10D2-C9CB9AD2DAB7}"/>
              </a:ext>
            </a:extLst>
          </p:cNvPr>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3823239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AF3B-7B5A-78D3-EF34-2A3BB49A45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11C5B5-AFB4-AA51-B7D4-A3184EFCD4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FFC4DD-432A-77F3-6FA4-F50100F3197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C908AFD-D304-EF24-85B5-22CA6EF7929D}"/>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57075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E472-E7FD-8058-95C9-372FFB14EED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610800B-D9E1-27AB-0BA0-573EFEB06DD0}"/>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8340335-8165-40AD-843D-DB13F32A1C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9BC81B0-DEB5-E24C-4044-F07FB8C59F6A}"/>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C82147D-0170-5834-572C-0FAC67B3518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724DD902-AAC5-D881-5E6F-AD9F30FA9737}"/>
              </a:ext>
            </a:extLst>
          </p:cNvPr>
          <p:cNvSpPr txBox="1"/>
          <p:nvPr/>
        </p:nvSpPr>
        <p:spPr>
          <a:xfrm>
            <a:off x="583019" y="1600200"/>
            <a:ext cx="11199971" cy="5078313"/>
          </a:xfrm>
          <a:prstGeom prst="rect">
            <a:avLst/>
          </a:prstGeom>
          <a:solidFill>
            <a:schemeClr val="bg1">
              <a:lumMod val="95000"/>
            </a:schemeClr>
          </a:solidFill>
          <a:ln w="28575">
            <a:solidFill>
              <a:srgbClr val="E0700D"/>
            </a:solidFill>
          </a:ln>
        </p:spPr>
        <p:txBody>
          <a:bodyPr wrap="square" rtlCol="0">
            <a:spAutoFit/>
          </a:bodyPr>
          <a:lstStyle/>
          <a:p>
            <a:r>
              <a:rPr lang="es-ES" sz="1200" dirty="0"/>
              <a:t>En el primer ejercicio, estudiamos el índice efectivo de una guía de onda para entender el confinamiento de la luz en circuitos fotónicos integrados. Tras caracterizar materiales como el Si, </a:t>
            </a:r>
            <a:r>
              <a:rPr lang="es-ES" sz="1200" dirty="0" err="1"/>
              <a:t>SiNx</a:t>
            </a:r>
            <a:r>
              <a:rPr lang="es-ES" sz="1200" dirty="0"/>
              <a:t> y SiO2, observamos que todos presentan una dispersión normal en la banda de 1500 a 1600 nm, donde el índice de refracción disminuye al aumentar la longitud de onda. Al analizar los modos, comparamos las polarizaciones TE y TM, notando que el modo fundamental (TE) presenta un mayor índice efectivo y un confinamiento más robusto en el núcleo de nitruro debido a la geometría de la guía, mientras que el modo TM, con el campo eléctrico orientado verticalmente, muestra una interacción distinta con las interfaces y un índice menor. Esta diferencia es clave, ya que el contraste de índices entre el núcleo (</a:t>
            </a:r>
            <a:r>
              <a:rPr lang="es-ES" sz="1200" dirty="0" err="1"/>
              <a:t>SiNx</a:t>
            </a:r>
            <a:r>
              <a:rPr lang="es-ES" sz="1200" dirty="0"/>
              <a:t>) y el revestimiento (SiO2) es lo que permite atrapar la luz por reflexión interna total de forma selectiva según el modo.</a:t>
            </a:r>
          </a:p>
          <a:p>
            <a:endParaRPr lang="es-ES" sz="1200" dirty="0"/>
          </a:p>
          <a:p>
            <a:r>
              <a:rPr lang="es-ES" sz="1200" dirty="0"/>
              <a:t>Para llevar esto al código, utilizamos la librería </a:t>
            </a:r>
            <a:r>
              <a:rPr lang="es-ES" sz="1200" dirty="0" err="1"/>
              <a:t>GDSFactory</a:t>
            </a:r>
            <a:r>
              <a:rPr lang="es-ES" sz="1200" dirty="0"/>
              <a:t> y el motor Tidy3D, cargando los modelos de materiales directamente desde sus bases de datos con funciones como </a:t>
            </a:r>
            <a:r>
              <a:rPr lang="es-ES" sz="1200" dirty="0" err="1"/>
              <a:t>td.material_library</a:t>
            </a:r>
            <a:r>
              <a:rPr lang="es-ES" sz="1200" dirty="0"/>
              <a:t>. Definimos la estructura mediante el comando </a:t>
            </a:r>
            <a:r>
              <a:rPr lang="es-ES" sz="1200" dirty="0" err="1"/>
              <a:t>gt.modes.Waveguide</a:t>
            </a:r>
            <a:r>
              <a:rPr lang="es-ES" sz="1200" dirty="0"/>
              <a:t>, configurando una sección de tipo "</a:t>
            </a:r>
            <a:r>
              <a:rPr lang="es-ES" sz="1200" dirty="0" err="1"/>
              <a:t>deep-etched</a:t>
            </a:r>
            <a:r>
              <a:rPr lang="es-ES" sz="1200" dirty="0"/>
              <a:t>" con un ancho de 1.2 µm y una altura de 300 nm. Programamos el </a:t>
            </a:r>
            <a:r>
              <a:rPr lang="es-ES" sz="1200" i="1" dirty="0" err="1"/>
              <a:t>modesolver</a:t>
            </a:r>
            <a:r>
              <a:rPr lang="es-ES" sz="1200" dirty="0"/>
              <a:t> para buscar los primeros cuatro modos a 1550 nm, extrayendo los resultados de índice efectivo con la propiedad .</a:t>
            </a:r>
            <a:r>
              <a:rPr lang="es-ES" sz="1200" dirty="0" err="1"/>
              <a:t>n_eff</a:t>
            </a:r>
            <a:r>
              <a:rPr lang="es-ES" sz="1200" dirty="0"/>
              <a:t> y validando las polarizaciones mediante los datos de .</a:t>
            </a:r>
            <a:r>
              <a:rPr lang="es-ES" sz="1200" dirty="0" err="1"/>
              <a:t>fraction_te</a:t>
            </a:r>
            <a:r>
              <a:rPr lang="es-ES" sz="1200" dirty="0"/>
              <a:t> y .</a:t>
            </a:r>
            <a:r>
              <a:rPr lang="es-ES" sz="1200" dirty="0" err="1"/>
              <a:t>fraction_tm</a:t>
            </a:r>
            <a:r>
              <a:rPr lang="es-ES" sz="1200" dirty="0"/>
              <a:t>. Finalmente, visualizamos las distribuciones de campo eléctrico con </a:t>
            </a:r>
            <a:r>
              <a:rPr lang="es-ES" sz="1200" dirty="0" err="1"/>
              <a:t>plot_field</a:t>
            </a:r>
            <a:r>
              <a:rPr lang="es-ES" sz="1200" dirty="0"/>
              <a:t>, cambiando el parámetro </a:t>
            </a:r>
            <a:r>
              <a:rPr lang="es-ES" sz="1200" dirty="0" err="1"/>
              <a:t>field_name</a:t>
            </a:r>
            <a:r>
              <a:rPr lang="es-ES" sz="1200" dirty="0"/>
              <a:t> entre 'Ex' y '</a:t>
            </a:r>
            <a:r>
              <a:rPr lang="es-ES" sz="1200" dirty="0" err="1"/>
              <a:t>Ey</a:t>
            </a:r>
            <a:r>
              <a:rPr lang="es-ES" sz="1200" dirty="0"/>
              <a:t>' para verificar espacialmente la orientación de cada polarización dentro del núcleo.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6" name="Imagen 5" descr="Gráfico, Gráfico de líneas&#10;&#10;El contenido generado por IA puede ser incorrecto.">
            <a:extLst>
              <a:ext uri="{FF2B5EF4-FFF2-40B4-BE49-F238E27FC236}">
                <a16:creationId xmlns:a16="http://schemas.microsoft.com/office/drawing/2014/main" id="{3A902083-81B9-7FCC-E21A-1B792DF301CC}"/>
              </a:ext>
            </a:extLst>
          </p:cNvPr>
          <p:cNvPicPr>
            <a:picLocks noChangeAspect="1"/>
          </p:cNvPicPr>
          <p:nvPr/>
        </p:nvPicPr>
        <p:blipFill>
          <a:blip r:embed="rId5"/>
          <a:stretch>
            <a:fillRect/>
          </a:stretch>
        </p:blipFill>
        <p:spPr>
          <a:xfrm>
            <a:off x="838200" y="4040753"/>
            <a:ext cx="2057400" cy="1602940"/>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11CBC6CE-751D-51F2-666D-ED40F1A80E9B}"/>
              </a:ext>
            </a:extLst>
          </p:cNvPr>
          <p:cNvPicPr>
            <a:picLocks noChangeAspect="1"/>
          </p:cNvPicPr>
          <p:nvPr/>
        </p:nvPicPr>
        <p:blipFill>
          <a:blip r:embed="rId6"/>
          <a:stretch>
            <a:fillRect/>
          </a:stretch>
        </p:blipFill>
        <p:spPr>
          <a:xfrm>
            <a:off x="3106400" y="4011723"/>
            <a:ext cx="2130528" cy="1631970"/>
          </a:xfrm>
          <a:prstGeom prst="rect">
            <a:avLst/>
          </a:prstGeom>
        </p:spPr>
      </p:pic>
      <p:pic>
        <p:nvPicPr>
          <p:cNvPr id="10" name="Imagen 9" descr="Gráfico, Gráfico de líneas&#10;&#10;El contenido generado por IA puede ser incorrecto.">
            <a:extLst>
              <a:ext uri="{FF2B5EF4-FFF2-40B4-BE49-F238E27FC236}">
                <a16:creationId xmlns:a16="http://schemas.microsoft.com/office/drawing/2014/main" id="{9959B28A-5348-B1B5-E22C-C083EF3D7815}"/>
              </a:ext>
            </a:extLst>
          </p:cNvPr>
          <p:cNvPicPr>
            <a:picLocks noChangeAspect="1"/>
          </p:cNvPicPr>
          <p:nvPr/>
        </p:nvPicPr>
        <p:blipFill>
          <a:blip r:embed="rId7"/>
          <a:stretch>
            <a:fillRect/>
          </a:stretch>
        </p:blipFill>
        <p:spPr>
          <a:xfrm>
            <a:off x="5418981" y="4011723"/>
            <a:ext cx="2116014" cy="1599313"/>
          </a:xfrm>
          <a:prstGeom prst="rect">
            <a:avLst/>
          </a:prstGeom>
        </p:spPr>
      </p:pic>
      <p:pic>
        <p:nvPicPr>
          <p:cNvPr id="12" name="Imagen 11" descr="Gráfico&#10;&#10;El contenido generado por IA puede ser incorrecto.">
            <a:extLst>
              <a:ext uri="{FF2B5EF4-FFF2-40B4-BE49-F238E27FC236}">
                <a16:creationId xmlns:a16="http://schemas.microsoft.com/office/drawing/2014/main" id="{63C0E69C-ED1E-8B86-E987-2A60360FA3F8}"/>
              </a:ext>
            </a:extLst>
          </p:cNvPr>
          <p:cNvPicPr>
            <a:picLocks noChangeAspect="1"/>
          </p:cNvPicPr>
          <p:nvPr/>
        </p:nvPicPr>
        <p:blipFill>
          <a:blip r:embed="rId8"/>
          <a:stretch>
            <a:fillRect/>
          </a:stretch>
        </p:blipFill>
        <p:spPr>
          <a:xfrm>
            <a:off x="7727934" y="4018768"/>
            <a:ext cx="2178066" cy="1592268"/>
          </a:xfrm>
          <a:prstGeom prst="rect">
            <a:avLst/>
          </a:prstGeom>
        </p:spPr>
      </p:pic>
    </p:spTree>
    <p:extLst>
      <p:ext uri="{BB962C8B-B14F-4D97-AF65-F5344CB8AC3E}">
        <p14:creationId xmlns:p14="http://schemas.microsoft.com/office/powerpoint/2010/main" val="3370328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12" name="Imagen 11" descr="Gráfico&#10;&#10;El contenido generado por IA puede ser incorrecto.">
            <a:extLst>
              <a:ext uri="{FF2B5EF4-FFF2-40B4-BE49-F238E27FC236}">
                <a16:creationId xmlns:a16="http://schemas.microsoft.com/office/drawing/2014/main" id="{EE9EEAC0-7DF1-D658-3836-B6E1DF41994E}"/>
              </a:ext>
            </a:extLst>
          </p:cNvPr>
          <p:cNvPicPr>
            <a:picLocks noChangeAspect="1"/>
          </p:cNvPicPr>
          <p:nvPr/>
        </p:nvPicPr>
        <p:blipFill>
          <a:blip r:embed="rId5"/>
          <a:stretch>
            <a:fillRect/>
          </a:stretch>
        </p:blipFill>
        <p:spPr>
          <a:xfrm>
            <a:off x="6590267" y="1644464"/>
            <a:ext cx="5105718" cy="2976958"/>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04680266-7AD9-F981-94AE-A50F719FCA46}"/>
              </a:ext>
            </a:extLst>
          </p:cNvPr>
          <p:cNvPicPr>
            <a:picLocks noChangeAspect="1"/>
          </p:cNvPicPr>
          <p:nvPr/>
        </p:nvPicPr>
        <p:blipFill>
          <a:blip r:embed="rId6"/>
          <a:stretch>
            <a:fillRect/>
          </a:stretch>
        </p:blipFill>
        <p:spPr>
          <a:xfrm>
            <a:off x="809116" y="1646998"/>
            <a:ext cx="4933219" cy="281694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016B7-21D3-41F5-96A5-C82C8836A06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6F30CFA-2284-948A-D7CE-084423A50638}"/>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3047EB5B-70CF-6416-3406-4494BBC67F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78FE904-EC18-B20F-D665-05D260671FE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8552569D-98EE-DCC1-082A-8A01C710E49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EA96F425-3B9E-7CAF-9B3E-A01FF61E8095}"/>
              </a:ext>
            </a:extLst>
          </p:cNvPr>
          <p:cNvSpPr txBox="1"/>
          <p:nvPr/>
        </p:nvSpPr>
        <p:spPr>
          <a:xfrm>
            <a:off x="444860" y="1600200"/>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endParaRPr lang="en-US" sz="1200" dirty="0">
              <a:cs typeface="Arial" panose="020B0604020202020204" pitchFamily="34" charset="0"/>
            </a:endParaRPr>
          </a:p>
          <a:p>
            <a:pPr lvl="0" eaLnBrk="0" fontAlgn="base" hangingPunct="0">
              <a:spcBef>
                <a:spcPct val="0"/>
              </a:spcBef>
              <a:spcAft>
                <a:spcPct val="0"/>
              </a:spcAft>
            </a:pPr>
            <a:r>
              <a:rPr lang="es-ES" altLang="es-ES" sz="1200" dirty="0"/>
              <a:t>En esta segunda parte, estudiamos cómo varía el índice efectivo, </a:t>
            </a:r>
            <a:r>
              <a:rPr lang="es-ES" altLang="es-ES" sz="1200" dirty="0" err="1"/>
              <a:t>n</a:t>
            </a:r>
            <a:r>
              <a:rPr lang="es-ES" altLang="es-ES" sz="1200" baseline="-25000" dirty="0" err="1"/>
              <a:t>eff</a:t>
            </a:r>
            <a:r>
              <a:rPr lang="es-ES" altLang="es-ES" sz="1200" dirty="0"/>
              <a:t> , la longitud de onda de 1500 a 1600 nm, el </a:t>
            </a:r>
            <a:r>
              <a:rPr lang="es-ES" altLang="es-ES" sz="1200" dirty="0" err="1"/>
              <a:t>n</a:t>
            </a:r>
            <a:r>
              <a:rPr lang="es-ES" altLang="es-ES" sz="1200" baseline="-25000" dirty="0" err="1"/>
              <a:t>eff</a:t>
            </a:r>
            <a:r>
              <a:rPr lang="es-ES" altLang="es-ES" sz="1200" baseline="-25000" dirty="0"/>
              <a:t>  </a:t>
            </a:r>
            <a:r>
              <a:rPr lang="es-ES" altLang="es-ES" sz="1200" dirty="0"/>
              <a:t>de todos los modos disminuye de forma progresiva debido a la dispersión tanto del material como de la propia guía. Al comparar diferentes secciones transversales, comprobamos que las guías de tipo "</a:t>
            </a:r>
            <a:r>
              <a:rPr lang="es-ES" altLang="es-ES" sz="1200" dirty="0" err="1"/>
              <a:t>deep</a:t>
            </a:r>
            <a:r>
              <a:rPr lang="es-ES" altLang="es-ES" sz="1200" dirty="0"/>
              <a:t>" (totalmente grabadas) ofrecen un confinamiento mayor y un índice efectivo más alto que las guías "</a:t>
            </a:r>
            <a:r>
              <a:rPr lang="es-ES" altLang="es-ES" sz="1200" dirty="0" err="1"/>
              <a:t>shallow</a:t>
            </a:r>
            <a:r>
              <a:rPr lang="es-ES" altLang="es-ES" sz="1200" dirty="0"/>
              <a:t>", las cuales presentan una interacción más extendida con el revestimiento. Esta comparativa es fundamental para asegurar que, en todo el rango de operación, el modo fundamental se mantenga correctamente guiado por encima del índice del Dióxido de Silicio.</a:t>
            </a:r>
          </a:p>
          <a:p>
            <a:pPr lvl="0" eaLnBrk="0" fontAlgn="base" hangingPunct="0">
              <a:spcBef>
                <a:spcPct val="0"/>
              </a:spcBef>
              <a:spcAft>
                <a:spcPct val="0"/>
              </a:spcAft>
            </a:pPr>
            <a:endParaRPr lang="es-ES" altLang="es-ES" sz="1200" dirty="0"/>
          </a:p>
          <a:p>
            <a:pPr lvl="0" eaLnBrk="0" fontAlgn="base" hangingPunct="0">
              <a:spcBef>
                <a:spcPct val="0"/>
              </a:spcBef>
              <a:spcAft>
                <a:spcPct val="0"/>
              </a:spcAft>
            </a:pPr>
            <a:r>
              <a:rPr lang="es-ES" altLang="es-ES" sz="1200" dirty="0"/>
              <a:t>Para implementar este estudio en el código, definimos un vector de longitudes de onda utilizando la función </a:t>
            </a:r>
            <a:r>
              <a:rPr lang="es-ES" altLang="es-ES" sz="1200" dirty="0" err="1"/>
              <a:t>np.linspace</a:t>
            </a:r>
            <a:r>
              <a:rPr lang="es-ES" altLang="es-ES" sz="1200" dirty="0"/>
              <a:t>(1500, 1600, 11) * nm, el cual pasamos directamente al parámetro </a:t>
            </a:r>
            <a:r>
              <a:rPr lang="es-ES" altLang="es-ES" sz="1200" dirty="0" err="1"/>
              <a:t>wavelength</a:t>
            </a:r>
            <a:r>
              <a:rPr lang="es-ES" altLang="es-ES" sz="1200" dirty="0"/>
              <a:t> del objeto </a:t>
            </a:r>
            <a:r>
              <a:rPr lang="es-ES" altLang="es-ES" sz="1200" dirty="0" err="1"/>
              <a:t>gt.modes.Waveguide</a:t>
            </a:r>
            <a:r>
              <a:rPr lang="es-ES" altLang="es-ES" sz="1200" dirty="0"/>
              <a:t>. Al ejecutar la simulación, el motor de cálculo genera un vector de resultados que almacenamos en variables como </a:t>
            </a:r>
            <a:r>
              <a:rPr lang="es-ES" altLang="es-ES" sz="1200" dirty="0" err="1"/>
              <a:t>res_neff</a:t>
            </a:r>
            <a:r>
              <a:rPr lang="es-ES" altLang="es-ES" sz="1200" dirty="0"/>
              <a:t> para su posterior análisis. Finalmente, utilizamos un bucle </a:t>
            </a:r>
            <a:r>
              <a:rPr lang="es-ES" altLang="es-ES" sz="1200" dirty="0" err="1"/>
              <a:t>for</a:t>
            </a:r>
            <a:r>
              <a:rPr lang="es-ES" altLang="es-ES" sz="1200" dirty="0"/>
              <a:t> para recorrer cada modo y representar gráficamente los datos mediante </a:t>
            </a:r>
            <a:r>
              <a:rPr lang="es-ES" altLang="es-ES" sz="1200" dirty="0" err="1"/>
              <a:t>plt.scatter</a:t>
            </a:r>
            <a:r>
              <a:rPr lang="es-ES" altLang="es-ES" sz="1200" dirty="0"/>
              <a:t> y </a:t>
            </a:r>
            <a:r>
              <a:rPr lang="es-ES" altLang="es-ES" sz="1200" dirty="0" err="1"/>
              <a:t>plt.plot</a:t>
            </a:r>
            <a:r>
              <a:rPr lang="es-ES" altLang="es-ES" sz="1200" dirty="0"/>
              <a:t>, superponiendo el índice del $SiO_2$ calculado anteriormente como referencia visual del límite de confinamiento en todo el espectro analizado.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8129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40821" y="4040362"/>
            <a:ext cx="12074979" cy="2123658"/>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cs typeface="Arial" panose="020B0604020202020204" pitchFamily="34" charset="0"/>
            </a:endParaRPr>
          </a:p>
          <a:p>
            <a:pPr lvl="0" eaLnBrk="0" fontAlgn="base" hangingPunct="0">
              <a:spcBef>
                <a:spcPct val="0"/>
              </a:spcBef>
              <a:spcAft>
                <a:spcPct val="0"/>
              </a:spcAft>
            </a:pPr>
            <a:r>
              <a:rPr lang="es-ES" altLang="es-ES" sz="1200" dirty="0"/>
              <a:t>En esta tercera etapa del laboratorio, analizamos la dependencia del índice efectivo (</a:t>
            </a:r>
            <a:r>
              <a:rPr lang="es-ES" altLang="es-ES" sz="1200" dirty="0" err="1"/>
              <a:t>n</a:t>
            </a:r>
            <a:r>
              <a:rPr lang="es-ES" altLang="es-ES" sz="1200" baseline="-25000" dirty="0" err="1"/>
              <a:t>eff</a:t>
            </a:r>
            <a:r>
              <a:rPr lang="es-ES" altLang="es-ES" sz="1200" dirty="0"/>
              <a:t> ) respecto al ancho de la guía y observamos cómo este parámetro influye directamente en el comportamiento de la polarización. Al realizar un barrido en el ancho (</a:t>
            </a:r>
            <a:r>
              <a:rPr lang="es-ES" altLang="es-ES" sz="1200" dirty="0" err="1"/>
              <a:t>sweep</a:t>
            </a:r>
            <a:r>
              <a:rPr lang="es-ES" altLang="es-ES" sz="1200" dirty="0"/>
              <a:t> </a:t>
            </a:r>
            <a:r>
              <a:rPr lang="es-ES" altLang="es-ES" sz="1200" dirty="0" err="1"/>
              <a:t>width</a:t>
            </a:r>
            <a:r>
              <a:rPr lang="es-ES" altLang="es-ES" sz="1200" dirty="0"/>
              <a:t>), comprobamos que conforme la guía se hace más ancha, el </a:t>
            </a:r>
            <a:r>
              <a:rPr lang="es-ES" altLang="es-ES" sz="1200" dirty="0" err="1"/>
              <a:t>n</a:t>
            </a:r>
            <a:r>
              <a:rPr lang="es-ES" altLang="es-ES" sz="1200" baseline="-25000" dirty="0" err="1"/>
              <a:t>eff</a:t>
            </a:r>
            <a:r>
              <a:rPr lang="es-ES" altLang="es-ES" sz="1200" dirty="0"/>
              <a:t> aumenta para todos los modos, ya que la luz se encuentra mejor confinada dentro del núcleo de alto índice. Asimismo, estudiamos el comportamiento de la polarización y notamos que el ancho de la guía determina no solo cuántos modos pueden propagarse, sino también el grado de hibridación entre ellos, permitiéndonos identificar el ancho ideal para mantener una operación monomodo con una polarización TE o TM pura y evitar acoplamientos no deseados entre modos de distinto orden.</a:t>
            </a:r>
          </a:p>
          <a:p>
            <a:pPr lvl="0" eaLnBrk="0" fontAlgn="base" hangingPunct="0">
              <a:spcBef>
                <a:spcPct val="0"/>
              </a:spcBef>
              <a:spcAft>
                <a:spcPct val="0"/>
              </a:spcAft>
            </a:pPr>
            <a:r>
              <a:rPr lang="es-ES" altLang="es-ES" sz="1200" dirty="0"/>
              <a:t>Para ejecutar este análisis en el código, utilizamos la función </a:t>
            </a:r>
            <a:r>
              <a:rPr lang="es-ES" altLang="es-ES" sz="1200" dirty="0" err="1"/>
              <a:t>gt.modes.sweep_n_eff</a:t>
            </a:r>
            <a:r>
              <a:rPr lang="es-ES" altLang="es-ES" sz="1200" dirty="0"/>
              <a:t> pasando como argumentos nuestro objeto </a:t>
            </a:r>
            <a:r>
              <a:rPr lang="es-ES" altLang="es-ES" sz="1200" dirty="0" err="1"/>
              <a:t>deep_waveguide</a:t>
            </a:r>
            <a:r>
              <a:rPr lang="es-ES" altLang="es-ES" sz="1200" dirty="0"/>
              <a:t> y un vector de anchos definido previamente. De igual manera, empleamos </a:t>
            </a:r>
            <a:r>
              <a:rPr lang="es-ES" altLang="es-ES" sz="1200" dirty="0" err="1"/>
              <a:t>gt.modes.sweep_fraction_te</a:t>
            </a:r>
            <a:r>
              <a:rPr lang="es-ES" altLang="es-ES" sz="1200" dirty="0"/>
              <a:t> para obtener los datos de polarización correspondientes a cada punto del barrido. Finalmente, representamos los resultados mediante un gráfico de dispersión donde utilizamos la función </a:t>
            </a:r>
            <a:r>
              <a:rPr lang="es-ES" altLang="es-ES" sz="1200" dirty="0" err="1"/>
              <a:t>plt.scatter</a:t>
            </a:r>
            <a:r>
              <a:rPr lang="es-ES" altLang="es-ES" sz="1200" dirty="0"/>
              <a:t> y un mapa de colores (</a:t>
            </a:r>
            <a:r>
              <a:rPr lang="es-ES" altLang="es-ES" sz="1200" dirty="0" err="1"/>
              <a:t>cmap</a:t>
            </a:r>
            <a:r>
              <a:rPr lang="es-ES" altLang="es-ES" sz="1200" dirty="0"/>
              <a:t>='</a:t>
            </a:r>
            <a:r>
              <a:rPr lang="es-ES" altLang="es-ES" sz="1200" dirty="0" err="1"/>
              <a:t>bwr</a:t>
            </a:r>
            <a:r>
              <a:rPr lang="es-ES" altLang="es-ES" sz="1200" dirty="0"/>
              <a:t>') mapeado a la fracción TE; esto nos permitió visualizar de forma simultánea en una sola gráfica tanto la evolución del índice efectivo como el estado de polarización dominante para cada modo a medida que variábamos las dimensiones transversales de la guía.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2590800" y="1373759"/>
            <a:ext cx="6172200" cy="2620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El contenido generado por IA puede ser incorrecto.">
            <a:extLst>
              <a:ext uri="{FF2B5EF4-FFF2-40B4-BE49-F238E27FC236}">
                <a16:creationId xmlns:a16="http://schemas.microsoft.com/office/drawing/2014/main" id="{107E64C3-2C11-DA53-47C7-66A90541E7B5}"/>
              </a:ext>
            </a:extLst>
          </p:cNvPr>
          <p:cNvPicPr>
            <a:picLocks noChangeAspect="1"/>
          </p:cNvPicPr>
          <p:nvPr/>
        </p:nvPicPr>
        <p:blipFill>
          <a:blip r:embed="rId5"/>
          <a:stretch>
            <a:fillRect/>
          </a:stretch>
        </p:blipFill>
        <p:spPr>
          <a:xfrm>
            <a:off x="3771900" y="1676400"/>
            <a:ext cx="3810000" cy="2217965"/>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En este ejercicio hemos programado una función personalizada que genera automáticamente una estructura de guía de ondas combinando tramos rectos y curvas. Para ello, hemos definido parámetros como el ancho de la guía y el radio de giro, lo que permite modificar el diseño fácilmente sin tener que redibujar nada. La programación se basa en conectar los distintos componentes (rectas y curvas) a través de sus puntos de unión o "puertos", asegurando que la luz pase de uno a otro sin interrupciones. Finalmente, el código genera el dibujo técnico (GDS) con las dimensiones exactas para su fabricación.</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0AC4F2C5-376A-4605-3DE2-0DB13155E275}"/>
              </a:ext>
            </a:extLst>
          </p:cNvPr>
          <p:cNvPicPr>
            <a:picLocks noChangeAspect="1"/>
          </p:cNvPicPr>
          <p:nvPr/>
        </p:nvPicPr>
        <p:blipFill>
          <a:blip r:embed="rId5"/>
          <a:stretch>
            <a:fillRect/>
          </a:stretch>
        </p:blipFill>
        <p:spPr>
          <a:xfrm>
            <a:off x="676656" y="1621093"/>
            <a:ext cx="5289921" cy="2877619"/>
          </a:xfrm>
          <a:prstGeom prst="rect">
            <a:avLst/>
          </a:prstGeom>
        </p:spPr>
      </p:pic>
      <p:pic>
        <p:nvPicPr>
          <p:cNvPr id="12" name="Imagen 11">
            <a:extLst>
              <a:ext uri="{FF2B5EF4-FFF2-40B4-BE49-F238E27FC236}">
                <a16:creationId xmlns:a16="http://schemas.microsoft.com/office/drawing/2014/main" id="{1AC1573A-5A27-30EA-A423-3E936D33590E}"/>
              </a:ext>
            </a:extLst>
          </p:cNvPr>
          <p:cNvPicPr>
            <a:picLocks noChangeAspect="1"/>
          </p:cNvPicPr>
          <p:nvPr/>
        </p:nvPicPr>
        <p:blipFill>
          <a:blip r:embed="rId6"/>
          <a:stretch>
            <a:fillRect/>
          </a:stretch>
        </p:blipFill>
        <p:spPr>
          <a:xfrm>
            <a:off x="6464641" y="1822954"/>
            <a:ext cx="5133158" cy="2766725"/>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u="sng" dirty="0">
              <a:latin typeface="Arial" panose="020B0604020202020204" pitchFamily="34" charset="0"/>
              <a:cs typeface="Arial" panose="020B0604020202020204" pitchFamily="34" charset="0"/>
            </a:endParaRPr>
          </a:p>
          <a:p>
            <a:r>
              <a:rPr lang="en-US" sz="1200" dirty="0"/>
              <a:t>The total loss decreases as the bend radius increases. For small radii, the loss is high due to mode mismatch. From the results, the first radius with Total Loss &lt; 0.1 dB/90º is approximately </a:t>
            </a:r>
            <a:r>
              <a:rPr lang="en-US" sz="1200" b="1" dirty="0"/>
              <a:t>35 µm</a:t>
            </a:r>
            <a:r>
              <a:rPr lang="en-US" sz="1200" dirty="0"/>
              <a:t>, so this is the safe radius. For larger radii, the loss remains below the limit. The effective index neff_TE0 slightly increases with radius and approaches the straight waveguide value for large R.</a:t>
            </a:r>
          </a:p>
          <a:p>
            <a:r>
              <a:rPr lang="en-US" sz="1200" dirty="0"/>
              <a:t>To find the safe radius, we calculated the total loss by adding the propagation loss and the mode-mismatch loss (converted to dB using −10·log10(mismatch)). Then, we selected the first radius where the total loss is below 0.1 dB/90º. This allows us to define the minimum low-loss bend radius</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dispersión&#10;&#10;El contenido generado por IA puede ser incorrecto.">
            <a:extLst>
              <a:ext uri="{FF2B5EF4-FFF2-40B4-BE49-F238E27FC236}">
                <a16:creationId xmlns:a16="http://schemas.microsoft.com/office/drawing/2014/main" id="{37B43900-9EA7-D418-C587-6ADB57AF296B}"/>
              </a:ext>
            </a:extLst>
          </p:cNvPr>
          <p:cNvPicPr>
            <a:picLocks noChangeAspect="1"/>
          </p:cNvPicPr>
          <p:nvPr/>
        </p:nvPicPr>
        <p:blipFill>
          <a:blip r:embed="rId5"/>
          <a:stretch>
            <a:fillRect/>
          </a:stretch>
        </p:blipFill>
        <p:spPr>
          <a:xfrm>
            <a:off x="3352800" y="1473539"/>
            <a:ext cx="4038600" cy="319021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05397-9322-3407-045E-03E6A86B047C}"/>
              </a:ext>
            </a:extLst>
          </p:cNvPr>
          <p:cNvSpPr>
            <a:spLocks noGrp="1"/>
          </p:cNvSpPr>
          <p:nvPr>
            <p:ph type="title"/>
          </p:nvPr>
        </p:nvSpPr>
        <p:spPr>
          <a:xfrm>
            <a:off x="700406" y="754380"/>
            <a:ext cx="2599054" cy="269239"/>
          </a:xfrm>
        </p:spPr>
        <p:txBody>
          <a:bodyPr wrap="square">
            <a:noAutofit/>
          </a:bodyPr>
          <a:lstStyle/>
          <a:p>
            <a:r>
              <a:rPr lang="es-ES" sz="2000" b="1" dirty="0"/>
              <a:t>EXTRA 1</a:t>
            </a:r>
          </a:p>
        </p:txBody>
      </p:sp>
      <p:sp>
        <p:nvSpPr>
          <p:cNvPr id="7" name="Rectangle 2">
            <a:extLst>
              <a:ext uri="{FF2B5EF4-FFF2-40B4-BE49-F238E27FC236}">
                <a16:creationId xmlns:a16="http://schemas.microsoft.com/office/drawing/2014/main" id="{801C6B3A-C458-C5A9-6F98-5DA6B99A8EE2}"/>
              </a:ext>
            </a:extLst>
          </p:cNvPr>
          <p:cNvSpPr>
            <a:spLocks noGrp="1" noChangeArrowheads="1"/>
          </p:cNvSpPr>
          <p:nvPr>
            <p:ph sz="half" idx="2"/>
          </p:nvPr>
        </p:nvSpPr>
        <p:spPr bwMode="auto">
          <a:xfrm>
            <a:off x="609600" y="1577340"/>
            <a:ext cx="5303520" cy="45262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0" compatLnSpc="1">
            <a:prstTxWarp prst="textNoShape">
              <a:avLst/>
            </a:prstTxWarp>
            <a:normAutofit/>
          </a:bodyPr>
          <a:lstStyle/>
          <a:p>
            <a:pPr lvl="0" rtl="0" eaLnBrk="0" fontAlgn="base" hangingPunct="0">
              <a:lnSpc>
                <a:spcPct val="90000"/>
              </a:lnSpc>
              <a:spcBef>
                <a:spcPct val="0"/>
              </a:spcBef>
              <a:spcAft>
                <a:spcPts val="600"/>
              </a:spcAft>
            </a:pPr>
            <a:r>
              <a:rPr kumimoji="0" lang="es-ES" altLang="es-ES" sz="1500" b="0" i="0" u="none" strike="noStrike" cap="none" normalizeH="0" baseline="0" dirty="0">
                <a:ln>
                  <a:noFill/>
                </a:ln>
                <a:effectLst/>
              </a:rPr>
              <a:t>En esta sección hemos adaptado el análisis de la en longitud de onda a la tecnología de Silicio </a:t>
            </a:r>
            <a:r>
              <a:rPr lang="es-ES" altLang="es-ES" sz="1500" dirty="0"/>
              <a:t>respuesta</a:t>
            </a:r>
            <a:endParaRPr kumimoji="0" lang="es-ES" altLang="es-ES" sz="1500" b="0" i="0" u="none" strike="noStrike" cap="none" normalizeH="0" baseline="0" dirty="0">
              <a:ln>
                <a:noFill/>
              </a:ln>
              <a:effectLst/>
            </a:endParaRPr>
          </a:p>
          <a:p>
            <a:pPr marL="0" marR="0" lvl="0" indent="0" defTabSz="914400" rtl="0" eaLnBrk="0" fontAlgn="base" latinLnBrk="0" hangingPunct="0">
              <a:lnSpc>
                <a:spcPct val="90000"/>
              </a:lnSpc>
              <a:spcBef>
                <a:spcPct val="0"/>
              </a:spcBef>
              <a:spcAft>
                <a:spcPts val="600"/>
              </a:spcAft>
              <a:buClrTx/>
              <a:buSzTx/>
              <a:buFontTx/>
              <a:buNone/>
              <a:tabLst/>
            </a:pPr>
            <a:r>
              <a:rPr kumimoji="0" lang="es-ES" altLang="es-ES" sz="1500" b="0" i="0" u="none" strike="noStrike" cap="none" normalizeH="0" baseline="0" dirty="0">
                <a:ln>
                  <a:noFill/>
                </a:ln>
                <a:effectLst/>
              </a:rPr>
              <a:t>sobre Aislante (SOI), sustituyendo el nitruro de silicio por silicio cristalino como material del núcleo, lo que</a:t>
            </a:r>
          </a:p>
          <a:p>
            <a:pPr marL="0" marR="0" lvl="0" indent="0" defTabSz="914400" rtl="0" eaLnBrk="0" fontAlgn="base" latinLnBrk="0" hangingPunct="0">
              <a:lnSpc>
                <a:spcPct val="90000"/>
              </a:lnSpc>
              <a:spcBef>
                <a:spcPct val="0"/>
              </a:spcBef>
              <a:spcAft>
                <a:spcPts val="600"/>
              </a:spcAft>
              <a:buClrTx/>
              <a:buSzTx/>
              <a:buFontTx/>
              <a:buNone/>
              <a:tabLst/>
            </a:pPr>
            <a:r>
              <a:rPr kumimoji="0" lang="es-ES" altLang="es-ES" sz="1500" b="0" i="0" u="none" strike="noStrike" cap="none" normalizeH="0" baseline="0" dirty="0">
                <a:ln>
                  <a:noFill/>
                </a:ln>
                <a:effectLst/>
              </a:rPr>
              <a:t> aumenta drásticamente el contraste de índice respecto al </a:t>
            </a:r>
            <a:r>
              <a:rPr kumimoji="0" lang="es-ES" altLang="es-ES" sz="1500" b="0" i="0" u="none" strike="noStrike" cap="none" normalizeH="0" baseline="0" dirty="0" err="1">
                <a:ln>
                  <a:noFill/>
                </a:ln>
                <a:effectLst/>
              </a:rPr>
              <a:t>cladding</a:t>
            </a:r>
            <a:r>
              <a:rPr kumimoji="0" lang="es-ES" altLang="es-ES" sz="1500" b="0" i="0" u="none" strike="noStrike" cap="none" normalizeH="0" baseline="0" dirty="0">
                <a:ln>
                  <a:noFill/>
                </a:ln>
                <a:effectLst/>
              </a:rPr>
              <a:t> de dióxido de silicio. En el código, </a:t>
            </a:r>
          </a:p>
          <a:p>
            <a:pPr lvl="0" rtl="0" eaLnBrk="0" fontAlgn="base" hangingPunct="0">
              <a:lnSpc>
                <a:spcPct val="90000"/>
              </a:lnSpc>
              <a:spcBef>
                <a:spcPct val="0"/>
              </a:spcBef>
              <a:spcAft>
                <a:spcPts val="600"/>
              </a:spcAft>
            </a:pPr>
            <a:r>
              <a:rPr kumimoji="0" lang="es-ES" altLang="es-ES" sz="1500" b="0" i="0" u="none" strike="noStrike" cap="none" normalizeH="0" baseline="0" dirty="0">
                <a:ln>
                  <a:noFill/>
                </a:ln>
                <a:effectLst/>
              </a:rPr>
              <a:t>esto se ha implementado modificando el parámetro </a:t>
            </a:r>
            <a:r>
              <a:rPr kumimoji="0" lang="es-ES" altLang="es-ES" sz="1500" b="0" i="0" u="none" strike="noStrike" cap="none" normalizeH="0" baseline="0" dirty="0" err="1">
                <a:ln>
                  <a:noFill/>
                </a:ln>
                <a:effectLst/>
              </a:rPr>
              <a:t>core_material</a:t>
            </a:r>
            <a:r>
              <a:rPr kumimoji="0" lang="es-ES" altLang="es-ES" sz="1500" b="0" i="0" u="none" strike="noStrike" cap="none" normalizeH="0" baseline="0" dirty="0">
                <a:ln>
                  <a:noFill/>
                </a:ln>
                <a:effectLst/>
              </a:rPr>
              <a:t> a sí</a:t>
            </a:r>
            <a:r>
              <a:rPr lang="es-ES" sz="1500" dirty="0"/>
              <a:t> y ajustando las dimensiones geométricas</a:t>
            </a:r>
          </a:p>
          <a:p>
            <a:pPr lvl="0" rtl="0" eaLnBrk="0" fontAlgn="base" hangingPunct="0">
              <a:lnSpc>
                <a:spcPct val="90000"/>
              </a:lnSpc>
              <a:spcBef>
                <a:spcPct val="0"/>
              </a:spcBef>
              <a:spcAft>
                <a:spcPts val="600"/>
              </a:spcAft>
            </a:pPr>
            <a:r>
              <a:rPr lang="es-ES" sz="1500" dirty="0"/>
              <a:t> a un estándar de fabricación más compacto, con un grosor de núcleo de 220 nm y un ancho de 500 nm. Estos cambios </a:t>
            </a:r>
          </a:p>
          <a:p>
            <a:pPr lvl="0" rtl="0" eaLnBrk="0" fontAlgn="base" hangingPunct="0">
              <a:lnSpc>
                <a:spcPct val="90000"/>
              </a:lnSpc>
              <a:spcBef>
                <a:spcPct val="0"/>
              </a:spcBef>
              <a:spcAft>
                <a:spcPts val="600"/>
              </a:spcAft>
            </a:pPr>
            <a:r>
              <a:rPr lang="es-ES" sz="1500" dirty="0"/>
              <a:t>provocan que el índice efectivo </a:t>
            </a:r>
            <a:r>
              <a:rPr kumimoji="0" lang="es-ES" altLang="es-ES" sz="1500" b="0" i="0" u="none" strike="noStrike" cap="none" normalizeH="0" baseline="0" dirty="0">
                <a:ln>
                  <a:noFill/>
                </a:ln>
                <a:effectLst/>
              </a:rPr>
              <a:t>escalone sus valores desde el rango de 1.4-1.6 obtenido anteriormente hasta niveles </a:t>
            </a:r>
          </a:p>
          <a:p>
            <a:pPr lvl="0" rtl="0" eaLnBrk="0" fontAlgn="base" hangingPunct="0">
              <a:lnSpc>
                <a:spcPct val="90000"/>
              </a:lnSpc>
              <a:spcBef>
                <a:spcPct val="0"/>
              </a:spcBef>
              <a:spcAft>
                <a:spcPts val="600"/>
              </a:spcAft>
            </a:pPr>
            <a:r>
              <a:rPr kumimoji="0" lang="es-ES" altLang="es-ES" sz="1500" b="0" i="0" u="none" strike="noStrike" cap="none" normalizeH="0" baseline="0" dirty="0">
                <a:ln>
                  <a:noFill/>
                </a:ln>
                <a:effectLst/>
              </a:rPr>
              <a:t>de 2.3-2.5, reflejando un confinamiento de la luz mucho mayor y una dispersión más acusada ante variaciones de la </a:t>
            </a:r>
          </a:p>
          <a:p>
            <a:pPr lvl="0" rtl="0" eaLnBrk="0" fontAlgn="base" hangingPunct="0">
              <a:lnSpc>
                <a:spcPct val="90000"/>
              </a:lnSpc>
              <a:spcBef>
                <a:spcPct val="0"/>
              </a:spcBef>
              <a:spcAft>
                <a:spcPts val="600"/>
              </a:spcAft>
            </a:pPr>
            <a:r>
              <a:rPr kumimoji="0" lang="es-ES" altLang="es-ES" sz="1500" b="0" i="0" u="none" strike="noStrike" cap="none" normalizeH="0" baseline="0" dirty="0">
                <a:ln>
                  <a:noFill/>
                </a:ln>
                <a:effectLst/>
              </a:rPr>
              <a:t>longitud de onda.</a:t>
            </a:r>
          </a:p>
        </p:txBody>
      </p:sp>
      <p:pic>
        <p:nvPicPr>
          <p:cNvPr id="9" name="Imagen 8">
            <a:extLst>
              <a:ext uri="{FF2B5EF4-FFF2-40B4-BE49-F238E27FC236}">
                <a16:creationId xmlns:a16="http://schemas.microsoft.com/office/drawing/2014/main" id="{0D06AAC4-ACE9-0291-D15F-8164C788078E}"/>
              </a:ext>
            </a:extLst>
          </p:cNvPr>
          <p:cNvPicPr>
            <a:picLocks noChangeAspect="1"/>
          </p:cNvPicPr>
          <p:nvPr/>
        </p:nvPicPr>
        <p:blipFill>
          <a:blip r:embed="rId2"/>
          <a:stretch>
            <a:fillRect/>
          </a:stretch>
        </p:blipFill>
        <p:spPr>
          <a:xfrm>
            <a:off x="6278880" y="2289201"/>
            <a:ext cx="5303520" cy="3102558"/>
          </a:xfrm>
          <a:prstGeom prst="rect">
            <a:avLst/>
          </a:prstGeom>
          <a:noFill/>
        </p:spPr>
      </p:pic>
      <p:sp>
        <p:nvSpPr>
          <p:cNvPr id="4" name="Marcador de pie de página 3">
            <a:extLst>
              <a:ext uri="{FF2B5EF4-FFF2-40B4-BE49-F238E27FC236}">
                <a16:creationId xmlns:a16="http://schemas.microsoft.com/office/drawing/2014/main" id="{5E5E0020-EC15-7967-E8B3-2F55B34D1180}"/>
              </a:ext>
            </a:extLst>
          </p:cNvPr>
          <p:cNvSpPr>
            <a:spLocks noGrp="1"/>
          </p:cNvSpPr>
          <p:nvPr>
            <p:ph type="ftr" sz="quarter" idx="5"/>
          </p:nvPr>
        </p:nvSpPr>
        <p:spPr>
          <a:xfrm>
            <a:off x="5695950" y="6465068"/>
            <a:ext cx="1210945" cy="153670"/>
          </a:xfrm>
        </p:spPr>
        <p:txBody>
          <a:bodyPr wrap="square">
            <a:normAutofit/>
          </a:bodyPr>
          <a:lstStyle/>
          <a:p>
            <a:pPr marL="12700">
              <a:spcBef>
                <a:spcPts val="15"/>
              </a:spcBef>
            </a:pPr>
            <a:r>
              <a:rPr lang="es-ES" sz="800" spc="-5"/>
              <a:t>LAB 1.0 WAVEGUIDES</a:t>
            </a:r>
          </a:p>
        </p:txBody>
      </p:sp>
      <p:sp>
        <p:nvSpPr>
          <p:cNvPr id="5" name="Marcador de número de diapositiva 4">
            <a:extLst>
              <a:ext uri="{FF2B5EF4-FFF2-40B4-BE49-F238E27FC236}">
                <a16:creationId xmlns:a16="http://schemas.microsoft.com/office/drawing/2014/main" id="{C8D1DB55-BEFF-7738-419F-983FEA8D66B3}"/>
              </a:ext>
            </a:extLst>
          </p:cNvPr>
          <p:cNvSpPr>
            <a:spLocks noGrp="1"/>
          </p:cNvSpPr>
          <p:nvPr>
            <p:ph type="sldNum" sz="quarter" idx="7"/>
          </p:nvPr>
        </p:nvSpPr>
        <p:spPr>
          <a:xfrm>
            <a:off x="9311640" y="6377940"/>
            <a:ext cx="2804160" cy="342900"/>
          </a:xfrm>
        </p:spPr>
        <p:txBody>
          <a:bodyPr wrap="square">
            <a:normAutofit/>
          </a:bodyPr>
          <a:lstStyle/>
          <a:p>
            <a:pPr>
              <a:spcAft>
                <a:spcPts val="600"/>
              </a:spcAft>
            </a:pPr>
            <a:fld id="{B6F15528-21DE-4FAA-801E-634DDDAF4B2B}" type="slidenum">
              <a:rPr lang="es-ES" smtClean="0"/>
              <a:pPr>
                <a:spcAft>
                  <a:spcPts val="600"/>
                </a:spcAft>
              </a:pPr>
              <a:t>9</a:t>
            </a:fld>
            <a:endParaRPr lang="es-ES"/>
          </a:p>
        </p:txBody>
      </p:sp>
    </p:spTree>
    <p:extLst>
      <p:ext uri="{BB962C8B-B14F-4D97-AF65-F5344CB8AC3E}">
        <p14:creationId xmlns:p14="http://schemas.microsoft.com/office/powerpoint/2010/main" val="1513557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480226A6-12E7-99D5-FA5C-54606C89A0D9}"/>
              </a:ext>
            </a:extLst>
          </p:cNvPr>
          <p:cNvSpPr>
            <a:spLocks noGrp="1"/>
          </p:cNvSpPr>
          <p:nvPr>
            <p:ph sz="half" idx="2"/>
          </p:nvPr>
        </p:nvSpPr>
        <p:spPr>
          <a:xfrm>
            <a:off x="609600" y="1577340"/>
            <a:ext cx="5303520" cy="4526280"/>
          </a:xfrm>
        </p:spPr>
        <p:txBody>
          <a:bodyPr wrap="square">
            <a:normAutofit/>
          </a:bodyPr>
          <a:lstStyle/>
          <a:p>
            <a:pPr>
              <a:lnSpc>
                <a:spcPct val="90000"/>
              </a:lnSpc>
              <a:spcAft>
                <a:spcPts val="600"/>
              </a:spcAft>
            </a:pPr>
            <a:r>
              <a:rPr lang="es-ES" dirty="0"/>
              <a:t>En este segundo apartado del bloque extra, hemos trasladado el estudio de la dependencia del ancho de la guía a la plataforma de silicio (SOI), sustituyendo la estructura de nitruro de silicio del ejercicio 3 por una de silicio cristalino con un espesor de núcleo de 220 nm. Para implementar esto en el código, hemos redefinido el objeto </a:t>
            </a:r>
            <a:r>
              <a:rPr lang="es-ES" dirty="0" err="1"/>
              <a:t>Waveguide</a:t>
            </a:r>
            <a:r>
              <a:rPr lang="es-ES" dirty="0"/>
              <a:t> con el parámetro </a:t>
            </a:r>
            <a:r>
              <a:rPr lang="es-ES" dirty="0" err="1"/>
              <a:t>core_material</a:t>
            </a:r>
            <a:r>
              <a:rPr lang="es-ES" dirty="0"/>
              <a:t>='si' y hemos ajustado el rango del barrido de anchos (</a:t>
            </a:r>
            <a:r>
              <a:rPr lang="es-ES" dirty="0" err="1"/>
              <a:t>widths</a:t>
            </a:r>
            <a:r>
              <a:rPr lang="es-ES" dirty="0"/>
              <a:t>) para que oscile entre 0.3 µm y 1.0 µm, adaptándonos a las dimensiones características de esta tecnología. El cambio fundamental radica en que, debido al altísimo contraste de índice del silicio, el índice efectivo alcanza valores mucho más elevados </a:t>
            </a:r>
          </a:p>
          <a:p>
            <a:pPr>
              <a:lnSpc>
                <a:spcPct val="90000"/>
              </a:lnSpc>
              <a:spcAft>
                <a:spcPts val="600"/>
              </a:spcAft>
            </a:pPr>
            <a:r>
              <a:rPr lang="es-ES" dirty="0"/>
              <a:t>(cercanos a 2.8 para anchos de 1 µm) y la guía se vuelve multimodo mucho antes que en el caso del nitruro, permitiendo observar cómo los modos de orden superior comienzan a confinarse a partir de anchos mucho más reducidos.</a:t>
            </a:r>
          </a:p>
        </p:txBody>
      </p:sp>
      <p:sp>
        <p:nvSpPr>
          <p:cNvPr id="2" name="Título 1">
            <a:extLst>
              <a:ext uri="{FF2B5EF4-FFF2-40B4-BE49-F238E27FC236}">
                <a16:creationId xmlns:a16="http://schemas.microsoft.com/office/drawing/2014/main" id="{BDD864C1-1D7A-54AB-9636-D4CBF3196BF3}"/>
              </a:ext>
            </a:extLst>
          </p:cNvPr>
          <p:cNvSpPr>
            <a:spLocks noGrp="1"/>
          </p:cNvSpPr>
          <p:nvPr>
            <p:ph type="title"/>
          </p:nvPr>
        </p:nvSpPr>
        <p:spPr>
          <a:xfrm>
            <a:off x="662306" y="754380"/>
            <a:ext cx="2599054" cy="269239"/>
          </a:xfrm>
        </p:spPr>
        <p:txBody>
          <a:bodyPr wrap="square">
            <a:noAutofit/>
          </a:bodyPr>
          <a:lstStyle/>
          <a:p>
            <a:r>
              <a:rPr lang="es-ES" sz="2000" b="1" dirty="0"/>
              <a:t>EXTRA 2</a:t>
            </a:r>
          </a:p>
        </p:txBody>
      </p:sp>
      <p:pic>
        <p:nvPicPr>
          <p:cNvPr id="7" name="Imagen 6">
            <a:extLst>
              <a:ext uri="{FF2B5EF4-FFF2-40B4-BE49-F238E27FC236}">
                <a16:creationId xmlns:a16="http://schemas.microsoft.com/office/drawing/2014/main" id="{4ECCCE2F-F082-5E0E-8B68-6D08D5EAD7EF}"/>
              </a:ext>
            </a:extLst>
          </p:cNvPr>
          <p:cNvPicPr>
            <a:picLocks noChangeAspect="1"/>
          </p:cNvPicPr>
          <p:nvPr/>
        </p:nvPicPr>
        <p:blipFill>
          <a:blip r:embed="rId2"/>
          <a:srcRect l="9007" r="20982" b="-2"/>
          <a:stretch>
            <a:fillRect/>
          </a:stretch>
        </p:blipFill>
        <p:spPr>
          <a:xfrm>
            <a:off x="6278880" y="1577340"/>
            <a:ext cx="5303520" cy="4526280"/>
          </a:xfrm>
          <a:prstGeom prst="rect">
            <a:avLst/>
          </a:prstGeom>
          <a:noFill/>
        </p:spPr>
      </p:pic>
      <p:sp>
        <p:nvSpPr>
          <p:cNvPr id="4" name="Marcador de pie de página 3">
            <a:extLst>
              <a:ext uri="{FF2B5EF4-FFF2-40B4-BE49-F238E27FC236}">
                <a16:creationId xmlns:a16="http://schemas.microsoft.com/office/drawing/2014/main" id="{7882978E-5A34-8B3E-ADF3-35F8391FAE20}"/>
              </a:ext>
            </a:extLst>
          </p:cNvPr>
          <p:cNvSpPr>
            <a:spLocks noGrp="1"/>
          </p:cNvSpPr>
          <p:nvPr>
            <p:ph type="ftr" sz="quarter" idx="5"/>
          </p:nvPr>
        </p:nvSpPr>
        <p:spPr>
          <a:xfrm>
            <a:off x="5695950" y="6465068"/>
            <a:ext cx="1210945" cy="153670"/>
          </a:xfrm>
        </p:spPr>
        <p:txBody>
          <a:bodyPr wrap="square">
            <a:normAutofit/>
          </a:bodyPr>
          <a:lstStyle/>
          <a:p>
            <a:pPr marL="12700">
              <a:spcBef>
                <a:spcPts val="15"/>
              </a:spcBef>
            </a:pPr>
            <a:r>
              <a:rPr lang="es-ES" sz="800" spc="-5"/>
              <a:t>LAB 1.0 WAVEGUIDES</a:t>
            </a:r>
          </a:p>
        </p:txBody>
      </p:sp>
      <p:sp>
        <p:nvSpPr>
          <p:cNvPr id="5" name="Marcador de número de diapositiva 4">
            <a:extLst>
              <a:ext uri="{FF2B5EF4-FFF2-40B4-BE49-F238E27FC236}">
                <a16:creationId xmlns:a16="http://schemas.microsoft.com/office/drawing/2014/main" id="{724F3961-E222-9C78-3F78-9A2696D105AD}"/>
              </a:ext>
            </a:extLst>
          </p:cNvPr>
          <p:cNvSpPr>
            <a:spLocks noGrp="1"/>
          </p:cNvSpPr>
          <p:nvPr>
            <p:ph type="sldNum" sz="quarter" idx="7"/>
          </p:nvPr>
        </p:nvSpPr>
        <p:spPr>
          <a:xfrm>
            <a:off x="9311640" y="6377940"/>
            <a:ext cx="2804160" cy="342900"/>
          </a:xfrm>
        </p:spPr>
        <p:txBody>
          <a:bodyPr wrap="square">
            <a:normAutofit/>
          </a:bodyPr>
          <a:lstStyle/>
          <a:p>
            <a:pPr>
              <a:spcAft>
                <a:spcPts val="600"/>
              </a:spcAft>
            </a:pPr>
            <a:fld id="{B6F15528-21DE-4FAA-801E-634DDDAF4B2B}" type="slidenum">
              <a:rPr lang="es-ES" smtClean="0"/>
              <a:pPr>
                <a:spcAft>
                  <a:spcPts val="600"/>
                </a:spcAft>
              </a:pPr>
              <a:t>10</a:t>
            </a:fld>
            <a:endParaRPr lang="es-ES"/>
          </a:p>
        </p:txBody>
      </p:sp>
    </p:spTree>
    <p:extLst>
      <p:ext uri="{BB962C8B-B14F-4D97-AF65-F5344CB8AC3E}">
        <p14:creationId xmlns:p14="http://schemas.microsoft.com/office/powerpoint/2010/main" val="446154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125B4322-CE76-E8F1-398E-A6322538D73C}"/>
              </a:ext>
            </a:extLst>
          </p:cNvPr>
          <p:cNvSpPr>
            <a:spLocks noGrp="1"/>
          </p:cNvSpPr>
          <p:nvPr>
            <p:ph type="title"/>
          </p:nvPr>
        </p:nvSpPr>
        <p:spPr>
          <a:xfrm>
            <a:off x="609600" y="754380"/>
            <a:ext cx="2599054" cy="307777"/>
          </a:xfrm>
        </p:spPr>
        <p:txBody>
          <a:bodyPr/>
          <a:lstStyle/>
          <a:p>
            <a:r>
              <a:rPr lang="en-US" sz="2000" b="1" dirty="0"/>
              <a:t>EXTRA 3</a:t>
            </a:r>
          </a:p>
        </p:txBody>
      </p:sp>
      <p:sp>
        <p:nvSpPr>
          <p:cNvPr id="3" name="Marcador de contenido 2">
            <a:extLst>
              <a:ext uri="{FF2B5EF4-FFF2-40B4-BE49-F238E27FC236}">
                <a16:creationId xmlns:a16="http://schemas.microsoft.com/office/drawing/2014/main" id="{A70CB2DA-C19B-0634-0538-DC7BEB8F798C}"/>
              </a:ext>
            </a:extLst>
          </p:cNvPr>
          <p:cNvSpPr>
            <a:spLocks noGrp="1"/>
          </p:cNvSpPr>
          <p:nvPr>
            <p:ph sz="half" idx="2"/>
          </p:nvPr>
        </p:nvSpPr>
        <p:spPr>
          <a:xfrm>
            <a:off x="609600" y="1577340"/>
            <a:ext cx="5303520" cy="4526280"/>
          </a:xfrm>
        </p:spPr>
        <p:txBody>
          <a:bodyPr wrap="square">
            <a:normAutofit/>
          </a:bodyPr>
          <a:lstStyle/>
          <a:p>
            <a:pPr>
              <a:spcAft>
                <a:spcPts val="600"/>
              </a:spcAft>
            </a:pPr>
            <a:r>
              <a:rPr lang="es-ES" dirty="0"/>
              <a:t>En esta última fase del bloque extra, hemos analizado las pérdidas por desajuste de modo (</a:t>
            </a:r>
            <a:r>
              <a:rPr lang="es-ES" dirty="0" err="1"/>
              <a:t>mismatch</a:t>
            </a:r>
            <a:r>
              <a:rPr lang="es-ES" dirty="0"/>
              <a:t>) en curvas para determinar el radio de giro mínimo que permite un diseño eficiente en la plataforma de silicio. Para ello, en el código hemos definido una guía con los parámetros de la tecnología SOI (núcleo de silicio de 500x220 nm) y hemos aplicado la función </a:t>
            </a:r>
            <a:r>
              <a:rPr lang="es-ES" dirty="0" err="1"/>
              <a:t>sweepbend_missmatchsobre</a:t>
            </a:r>
            <a:r>
              <a:rPr lang="es-ES" dirty="0"/>
              <a:t> un rango de radios</a:t>
            </a:r>
          </a:p>
          <a:p>
            <a:pPr>
              <a:spcAft>
                <a:spcPts val="600"/>
              </a:spcAft>
            </a:pPr>
            <a:r>
              <a:rPr lang="es-ES" dirty="0"/>
              <a:t> de 5 a 30 µm. El resultado obtenido muestra que el </a:t>
            </a:r>
            <a:r>
              <a:rPr lang="es-ES" b="1" dirty="0"/>
              <a:t>radio seguro es de 5 µm</a:t>
            </a:r>
            <a:r>
              <a:rPr lang="es-ES" dirty="0"/>
              <a:t>, ya que incluso en este valor tan reducido las pérdidas se mantienen por debajo del límite de 0.1 dB. Este dato confirma que el alto contraste de índice del silicio permite una miniaturización extrema, logrando dispositivos mucho más densos que los diseñados con nitruro de silicio, donde se requieren radios sensiblemente mayores para evitar fugas de luz.</a:t>
            </a:r>
          </a:p>
        </p:txBody>
      </p:sp>
      <p:pic>
        <p:nvPicPr>
          <p:cNvPr id="8" name="Marcador de contenido 7">
            <a:extLst>
              <a:ext uri="{FF2B5EF4-FFF2-40B4-BE49-F238E27FC236}">
                <a16:creationId xmlns:a16="http://schemas.microsoft.com/office/drawing/2014/main" id="{5D1324DB-B05E-74E8-6A77-33AD2335A45B}"/>
              </a:ext>
            </a:extLst>
          </p:cNvPr>
          <p:cNvPicPr>
            <a:picLocks noGrp="1" noChangeAspect="1"/>
          </p:cNvPicPr>
          <p:nvPr>
            <p:ph sz="half" idx="3"/>
          </p:nvPr>
        </p:nvPicPr>
        <p:blipFill>
          <a:blip r:embed="rId2"/>
          <a:srcRect l="7434" r="2" b="2"/>
          <a:stretch>
            <a:fillRect/>
          </a:stretch>
        </p:blipFill>
        <p:spPr>
          <a:xfrm>
            <a:off x="6278880" y="1577340"/>
            <a:ext cx="5303520" cy="4526280"/>
          </a:xfrm>
          <a:prstGeom prst="rect">
            <a:avLst/>
          </a:prstGeom>
          <a:noFill/>
        </p:spPr>
      </p:pic>
      <p:sp>
        <p:nvSpPr>
          <p:cNvPr id="5" name="Marcador de pie de página 4">
            <a:extLst>
              <a:ext uri="{FF2B5EF4-FFF2-40B4-BE49-F238E27FC236}">
                <a16:creationId xmlns:a16="http://schemas.microsoft.com/office/drawing/2014/main" id="{37A76B26-C609-61B6-22FF-1F45BC9680BB}"/>
              </a:ext>
            </a:extLst>
          </p:cNvPr>
          <p:cNvSpPr>
            <a:spLocks noGrp="1"/>
          </p:cNvSpPr>
          <p:nvPr>
            <p:ph type="ftr" sz="quarter" idx="5"/>
          </p:nvPr>
        </p:nvSpPr>
        <p:spPr>
          <a:xfrm>
            <a:off x="5695950" y="6465068"/>
            <a:ext cx="1210945" cy="153670"/>
          </a:xfrm>
        </p:spPr>
        <p:txBody>
          <a:bodyPr wrap="square">
            <a:normAutofit/>
          </a:bodyPr>
          <a:lstStyle/>
          <a:p>
            <a:pPr marL="12700">
              <a:spcBef>
                <a:spcPts val="15"/>
              </a:spcBef>
            </a:pPr>
            <a:r>
              <a:rPr lang="es-ES" sz="800" spc="-5"/>
              <a:t>LAB 1.0 WAVEGUIDES</a:t>
            </a:r>
          </a:p>
        </p:txBody>
      </p:sp>
      <p:sp>
        <p:nvSpPr>
          <p:cNvPr id="6" name="Marcador de número de diapositiva 5">
            <a:extLst>
              <a:ext uri="{FF2B5EF4-FFF2-40B4-BE49-F238E27FC236}">
                <a16:creationId xmlns:a16="http://schemas.microsoft.com/office/drawing/2014/main" id="{FC87F93E-2C01-CF62-69CF-967AB81FE6CF}"/>
              </a:ext>
            </a:extLst>
          </p:cNvPr>
          <p:cNvSpPr>
            <a:spLocks noGrp="1"/>
          </p:cNvSpPr>
          <p:nvPr>
            <p:ph type="sldNum" sz="quarter" idx="7"/>
          </p:nvPr>
        </p:nvSpPr>
        <p:spPr>
          <a:xfrm>
            <a:off x="9311640" y="6377940"/>
            <a:ext cx="2804160" cy="342900"/>
          </a:xfrm>
        </p:spPr>
        <p:txBody>
          <a:bodyPr wrap="square">
            <a:normAutofit/>
          </a:bodyPr>
          <a:lstStyle/>
          <a:p>
            <a:pPr>
              <a:spcAft>
                <a:spcPts val="600"/>
              </a:spcAft>
            </a:pPr>
            <a:fld id="{B6F15528-21DE-4FAA-801E-634DDDAF4B2B}" type="slidenum">
              <a:rPr lang="es-ES" smtClean="0"/>
              <a:pPr>
                <a:spcAft>
                  <a:spcPts val="600"/>
                </a:spcAft>
              </a:pPr>
              <a:t>11</a:t>
            </a:fld>
            <a:endParaRPr lang="es-ES"/>
          </a:p>
        </p:txBody>
      </p:sp>
    </p:spTree>
    <p:extLst>
      <p:ext uri="{BB962C8B-B14F-4D97-AF65-F5344CB8AC3E}">
        <p14:creationId xmlns:p14="http://schemas.microsoft.com/office/powerpoint/2010/main" val="2468656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13184</TotalTime>
  <Words>1859</Words>
  <Application>Microsoft Office PowerPoint</Application>
  <PresentationFormat>Panorámica</PresentationFormat>
  <Paragraphs>110</Paragraphs>
  <Slides>12</Slides>
  <Notes>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Aptos</vt:lpstr>
      <vt:lpstr>Arial</vt:lpstr>
      <vt:lpstr>Calibri</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1</vt:lpstr>
      <vt:lpstr>EXTRA 2</vt:lpstr>
      <vt:lpstr>EXTRA 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Marcos Estañ Lloret</cp:lastModifiedBy>
  <cp:revision>15</cp:revision>
  <dcterms:created xsi:type="dcterms:W3CDTF">2025-01-27T02:46:57Z</dcterms:created>
  <dcterms:modified xsi:type="dcterms:W3CDTF">2026-03-15T18:42:30Z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